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6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Produção FV (ilustrativa)</c:v>
                </c:pt>
              </c:strCache>
            </c:strRef>
          </c:tx>
          <c:spPr>
            <a:ln w="38100" cap="flat">
              <a:solidFill>
                <a:srgbClr val="E0A52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6h</c:v>
                </c:pt>
                <c:pt idx="1">
                  <c:v>7h</c:v>
                </c:pt>
                <c:pt idx="2">
                  <c:v>8h</c:v>
                </c:pt>
                <c:pt idx="3">
                  <c:v>9h</c:v>
                </c:pt>
                <c:pt idx="4">
                  <c:v>10h</c:v>
                </c:pt>
                <c:pt idx="5">
                  <c:v>11h</c:v>
                </c:pt>
                <c:pt idx="6">
                  <c:v>12h</c:v>
                </c:pt>
                <c:pt idx="7">
                  <c:v>13h</c:v>
                </c:pt>
                <c:pt idx="8">
                  <c:v>14h</c:v>
                </c:pt>
                <c:pt idx="9">
                  <c:v>15h</c:v>
                </c:pt>
                <c:pt idx="10">
                  <c:v>16h</c:v>
                </c:pt>
                <c:pt idx="11">
                  <c:v>17h</c:v>
                </c:pt>
                <c:pt idx="12">
                  <c:v>18h</c:v>
                </c:pt>
                <c:pt idx="13">
                  <c:v>19h</c:v>
                </c:pt>
                <c:pt idx="14">
                  <c:v>20h</c:v>
                </c:pt>
                <c:pt idx="15">
                  <c:v>21h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0.52</c:v>
                </c:pt>
                <c:pt idx="3">
                  <c:v>1</c:v>
                </c:pt>
                <c:pt idx="4">
                  <c:v>1.41</c:v>
                </c:pt>
                <c:pt idx="5">
                  <c:v>1.73</c:v>
                </c:pt>
                <c:pt idx="6">
                  <c:v>1.93</c:v>
                </c:pt>
                <c:pt idx="7">
                  <c:v>2</c:v>
                </c:pt>
                <c:pt idx="8">
                  <c:v>1.93</c:v>
                </c:pt>
                <c:pt idx="9">
                  <c:v>1.73</c:v>
                </c:pt>
                <c:pt idx="10">
                  <c:v>1.41</c:v>
                </c:pt>
                <c:pt idx="11">
                  <c:v>1</c:v>
                </c:pt>
                <c:pt idx="12">
                  <c:v>0.52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760-482E-A27F-A446DBEB57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Carga base (ilustrativa)</c:v>
                </c:pt>
              </c:strCache>
            </c:strRef>
          </c:tx>
          <c:spPr>
            <a:ln w="38100" cap="flat">
              <a:solidFill>
                <a:srgbClr val="8A857A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6h</c:v>
                </c:pt>
                <c:pt idx="1">
                  <c:v>7h</c:v>
                </c:pt>
                <c:pt idx="2">
                  <c:v>8h</c:v>
                </c:pt>
                <c:pt idx="3">
                  <c:v>9h</c:v>
                </c:pt>
                <c:pt idx="4">
                  <c:v>10h</c:v>
                </c:pt>
                <c:pt idx="5">
                  <c:v>11h</c:v>
                </c:pt>
                <c:pt idx="6">
                  <c:v>12h</c:v>
                </c:pt>
                <c:pt idx="7">
                  <c:v>13h</c:v>
                </c:pt>
                <c:pt idx="8">
                  <c:v>14h</c:v>
                </c:pt>
                <c:pt idx="9">
                  <c:v>15h</c:v>
                </c:pt>
                <c:pt idx="10">
                  <c:v>16h</c:v>
                </c:pt>
                <c:pt idx="11">
                  <c:v>17h</c:v>
                </c:pt>
                <c:pt idx="12">
                  <c:v>18h</c:v>
                </c:pt>
                <c:pt idx="13">
                  <c:v>19h</c:v>
                </c:pt>
                <c:pt idx="14">
                  <c:v>20h</c:v>
                </c:pt>
                <c:pt idx="15">
                  <c:v>21h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  <c:pt idx="11">
                  <c:v>0.5</c:v>
                </c:pt>
                <c:pt idx="12">
                  <c:v>0.5</c:v>
                </c:pt>
                <c:pt idx="13">
                  <c:v>0.5</c:v>
                </c:pt>
                <c:pt idx="14">
                  <c:v>0.5</c:v>
                </c:pt>
                <c:pt idx="15">
                  <c:v>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760-482E-A27F-A446DBEB5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pt-PT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3D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pt-PT" sz="900" b="0" i="0" u="none" strike="noStrike">
                    <a:solidFill>
                      <a:srgbClr val="000000"/>
                    </a:solidFill>
                    <a:latin typeface="Arial"/>
                  </a:rPr>
                  <a:t>kW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pt-PT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pt-PT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Materiais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372-414E-8BBE-1EA975E6A2BD}"/>
              </c:ext>
            </c:extLst>
          </c:dPt>
          <c:dPt>
            <c:idx val="1"/>
            <c:bubble3D val="0"/>
            <c:spPr>
              <a:solidFill>
                <a:srgbClr val="5E9A7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72-414E-8BBE-1EA975E6A2BD}"/>
              </c:ext>
            </c:extLst>
          </c:dPt>
          <c:dPt>
            <c:idx val="2"/>
            <c:bubble3D val="0"/>
            <c:spPr>
              <a:solidFill>
                <a:srgbClr val="E0A5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72-414E-8BBE-1EA975E6A2BD}"/>
              </c:ext>
            </c:extLst>
          </c:dPt>
          <c:dPt>
            <c:idx val="3"/>
            <c:bubble3D val="0"/>
            <c:spPr>
              <a:solidFill>
                <a:srgbClr val="F0C6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72-414E-8BBE-1EA975E6A2BD}"/>
              </c:ext>
            </c:extLst>
          </c:dPt>
          <c:dPt>
            <c:idx val="4"/>
            <c:bubble3D val="0"/>
            <c:spPr>
              <a:solidFill>
                <a:srgbClr val="A9C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372-414E-8BBE-1EA975E6A2BD}"/>
              </c:ext>
            </c:extLst>
          </c:dPt>
          <c:cat>
            <c:strRef>
              <c:f>Sheet1!$A$2:$A$6</c:f>
              <c:strCache>
                <c:ptCount val="5"/>
                <c:pt idx="0">
                  <c:v>Montagem (breadboards, cabos, USB/5 V, caixas)</c:v>
                </c:pt>
                <c:pt idx="1">
                  <c:v>Microcontroladores (4 × ESP32)</c:v>
                </c:pt>
                <c:pt idx="2">
                  <c:v>Sensores (PIR, DHT22, INA219)</c:v>
                </c:pt>
                <c:pt idx="3">
                  <c:v>Painel FV + carga de ensaio</c:v>
                </c:pt>
                <c:pt idx="4">
                  <c:v>Atuação (relés, LED)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</c:v>
                </c:pt>
                <c:pt idx="1">
                  <c:v>32</c:v>
                </c:pt>
                <c:pt idx="2">
                  <c:v>20.12</c:v>
                </c:pt>
                <c:pt idx="3">
                  <c:v>15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372-414E-8BBE-1EA975E6A2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153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 Casa Eficiente é uma proposta de gestão energética residencial que combina sensores IoT, informação solar e análise de dados. Vamos recolher dados reais em três zonas e testar decisões de climatização e bombagem numa bancada com cargas simuladas. O objetivo é demonstrar como a ocupação e a disponibilidade solar podem apoiar uma utilização mais eficiente da energia.”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linha do dia é ilustrativa e não representa medições: serve para explicar o desfasamento entre horários fixos, ocupação e produção solar. Protótipo académico — não é um controlador residencial certificado.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Recolha real só em três zonas: Z1 sala, Z2 quarto principal, Z3 quarto usado como escritório (a confirmar na instalação). As restantes divisões são simuladas ou não monitorizadas. Objetivos 1–3 tratam da recolha e transmissão; 4–7 da análise, demonstração e comparação.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ESP32: três nós sensores com PIR HC-SR501 e DHT22, um nó atuador com 4 relés e LED (AC Z1, AC Z2, AC Z3, bomba). O painel solar de bancada com INA219 mede tensão e corrente e não representa a produção da moradia. A imagem é uma ilustração conceptual.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nós enviam por HTTPS REST para o servidor (FastAPI), que valida e guarda em MySQL. O integrador junta Open-Meteo e, se houver acesso, o controlador FV. O gestor de energia publica comandos que o ESP32 atuador consulta e confirma. A base de dados não fica exposta.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Campanha de 02 a 15/11/2026, mínimo 7 dias. Cerca de 4 320 amostras por dia são estimativas de volume, não contagens. Ocupação inferida do PIR em janelas de 15 min, com heurística de 10 min. Avaliação cronológica: últimos três dias para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Climatização: o modo manual tem precedência e a ausência de movimento não leva a uma decisão cega de desligar. Bomba: no cenário simulado do GT02 (FV 2 kW, base 0,5 kW, bomba 1 kW), há margem para funcionar das 12h às 14h, dentro da janela autorizada 10h–16h. São hipóteses de teste.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guiões GT01 e GT02 ainda não foram executados nesta entrega. Validação em três níveis: bancada, integração e avaliação. Riscos principais e respostas previstas à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estimado de materiais 123,12 €, mais 15% de reserva (18,47 €), num total previsto de 141,59 €. Preços aproximados sem portes. Alojamento VM de 0–10 €/mês à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Dependências: a campanha só começa após ensaio de sensores, relógios, envio e armazenamento; a IA depende de dados utilizáveis; inversor e consumo medido por confirmar. Datas contraditórias do briefing (IoT 09/01/2026, testes ES 15 ou 25/01/2027) a esclarecer com os docentes.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capa_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1F3B2E">
              <a:alpha val="88000"/>
            </a:srgbClr>
          </a:solidFill>
          <a:ln w="12700">
            <a:solidFill>
              <a:srgbClr val="1F3B2E">
                <a:alpha val="0"/>
              </a:srgbClr>
            </a:solidFill>
            <a:prstDash val="solid"/>
          </a:ln>
        </p:spPr>
      </p:sp>
      <p:pic>
        <p:nvPicPr>
          <p:cNvPr id="4" name="Image 1" descr="img/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20040"/>
            <a:ext cx="2926080" cy="4737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10241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3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 · PROPOSTA INICIAL · MILESTONE 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0080" y="13716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</a:t>
            </a:r>
            <a:endParaRPr lang="en-US" sz="5200" dirty="0"/>
          </a:p>
        </p:txBody>
      </p:sp>
      <p:sp>
        <p:nvSpPr>
          <p:cNvPr id="7" name="Text 3"/>
          <p:cNvSpPr/>
          <p:nvPr/>
        </p:nvSpPr>
        <p:spPr>
          <a:xfrm>
            <a:off x="640080" y="23774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E4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energética residencial com sensores IoT, energia solar e inteligência artificial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640080" y="3474720"/>
            <a:ext cx="1097280" cy="0"/>
          </a:xfrm>
          <a:prstGeom prst="line">
            <a:avLst/>
          </a:prstGeom>
          <a:noFill/>
          <a:ln w="38100">
            <a:solidFill>
              <a:srgbClr val="E0A52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37033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3D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— Grupo 2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Benge do Espírito Santo Vieira · 20241964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Rafael Soares Moreira · 20241781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Ibraim Resende · 20241204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Iaia Baldé · 20241323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0080" y="53492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F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Europeia · Licenciatura em Engenharia Informática (online) · 5.º semestre 2026–2027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FE3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 · Computação Física e IoT · Inteligência Artificial · Engenharia de Software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40080" y="6217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27/10/2026 · 19:30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418320" y="653796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E PÚBLICO-ALVO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Horários fixos não acompanham a ocupação nem o sol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típico (exemplo ilustrativo)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0312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7744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323469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0901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436626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4058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4" name="Text 11"/>
          <p:cNvSpPr/>
          <p:nvPr/>
        </p:nvSpPr>
        <p:spPr>
          <a:xfrm>
            <a:off x="549783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09h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7215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662940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0372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776097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03529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20" name="Text 17"/>
          <p:cNvSpPr/>
          <p:nvPr/>
        </p:nvSpPr>
        <p:spPr>
          <a:xfrm>
            <a:off x="889254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916686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1002411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029843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24" name="Text 21"/>
          <p:cNvSpPr/>
          <p:nvPr/>
        </p:nvSpPr>
        <p:spPr>
          <a:xfrm>
            <a:off x="11155680" y="17830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1430000" y="2011680"/>
            <a:ext cx="0" cy="233172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26" name="Shape 23"/>
          <p:cNvSpPr/>
          <p:nvPr/>
        </p:nvSpPr>
        <p:spPr>
          <a:xfrm>
            <a:off x="548640" y="2084832"/>
            <a:ext cx="384048" cy="384048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131" y="2169323"/>
            <a:ext cx="215067" cy="215067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21031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 disponível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2377440" y="2176272"/>
            <a:ext cx="9052560" cy="21945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394960" y="2130552"/>
            <a:ext cx="3771900" cy="310896"/>
          </a:xfrm>
          <a:prstGeom prst="roundRect">
            <a:avLst>
              <a:gd name="adj" fmla="val 17647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394960" y="2130552"/>
            <a:ext cx="37719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fotovoltaica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8640" y="2633472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31" y="2717963"/>
            <a:ext cx="215067" cy="215067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005840" y="26517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2377440" y="2724912"/>
            <a:ext cx="9052560" cy="21945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377440" y="267919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377440" y="26791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noite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9166860" y="2679192"/>
            <a:ext cx="2263140" cy="310896"/>
          </a:xfrm>
          <a:prstGeom prst="roundRect">
            <a:avLst>
              <a:gd name="adj" fmla="val 1764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9166860" y="2679192"/>
            <a:ext cx="2263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noite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48640" y="3182112"/>
            <a:ext cx="384048" cy="384048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131" y="3266603"/>
            <a:ext cx="215067" cy="215067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1005840" y="320040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(fixo)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2377440" y="3273552"/>
            <a:ext cx="9052560" cy="21945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772150" y="3227832"/>
            <a:ext cx="3017520" cy="310896"/>
          </a:xfrm>
          <a:prstGeom prst="roundRect">
            <a:avLst>
              <a:gd name="adj" fmla="val 17647"/>
            </a:avLst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72150" y="322783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com casa vazia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548640" y="3730752"/>
            <a:ext cx="384048" cy="384048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131" y="3815243"/>
            <a:ext cx="215067" cy="215067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005840" y="374904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Bomba (fixo)</a:t>
            </a:r>
            <a:endParaRPr lang="en-US" sz="1200" dirty="0"/>
          </a:p>
        </p:txBody>
      </p:sp>
      <p:sp>
        <p:nvSpPr>
          <p:cNvPr id="49" name="Shape 42"/>
          <p:cNvSpPr/>
          <p:nvPr/>
        </p:nvSpPr>
        <p:spPr>
          <a:xfrm>
            <a:off x="2377440" y="3822192"/>
            <a:ext cx="9052560" cy="219456"/>
          </a:xfrm>
          <a:prstGeom prst="rect">
            <a:avLst/>
          </a:prstGeom>
          <a:solidFill>
            <a:srgbClr val="ECEAE3"/>
          </a:solidFill>
          <a:ln w="12700">
            <a:solidFill>
              <a:srgbClr val="ECEAE3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9544050" y="3776472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9544050" y="377647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sol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548640" y="4526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4764024"/>
            <a:ext cx="256032" cy="256032"/>
          </a:xfrm>
          <a:prstGeom prst="rect">
            <a:avLst/>
          </a:prstGeom>
        </p:spPr>
      </p:pic>
      <p:sp>
        <p:nvSpPr>
          <p:cNvPr id="55" name="Text 47"/>
          <p:cNvSpPr/>
          <p:nvPr/>
        </p:nvSpPr>
        <p:spPr>
          <a:xfrm>
            <a:off x="132588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500" dirty="0"/>
          </a:p>
        </p:txBody>
      </p:sp>
      <p:sp>
        <p:nvSpPr>
          <p:cNvPr id="56" name="Text 48"/>
          <p:cNvSpPr/>
          <p:nvPr/>
        </p:nvSpPr>
        <p:spPr>
          <a:xfrm>
            <a:off x="73152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Climatização de espaços sem utilização e energia da rede usada quando seria possível deslocar cargas.</a:t>
            </a:r>
            <a:endParaRPr lang="en-US" sz="1200" dirty="0"/>
          </a:p>
        </p:txBody>
      </p:sp>
      <p:sp>
        <p:nvSpPr>
          <p:cNvPr id="57" name="Shape 49"/>
          <p:cNvSpPr/>
          <p:nvPr/>
        </p:nvSpPr>
        <p:spPr>
          <a:xfrm>
            <a:off x="4297680" y="4526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8" name="Shape 50"/>
          <p:cNvSpPr/>
          <p:nvPr/>
        </p:nvSpPr>
        <p:spPr>
          <a:xfrm>
            <a:off x="4480560" y="466344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1144" y="4764024"/>
            <a:ext cx="256032" cy="256032"/>
          </a:xfrm>
          <a:prstGeom prst="rect">
            <a:avLst/>
          </a:prstGeom>
        </p:spPr>
      </p:pic>
      <p:sp>
        <p:nvSpPr>
          <p:cNvPr id="60" name="Text 51"/>
          <p:cNvSpPr/>
          <p:nvPr/>
        </p:nvSpPr>
        <p:spPr>
          <a:xfrm>
            <a:off x="507492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hipótese</a:t>
            </a:r>
            <a:endParaRPr lang="en-US" sz="1500" dirty="0"/>
          </a:p>
        </p:txBody>
      </p:sp>
      <p:sp>
        <p:nvSpPr>
          <p:cNvPr id="61" name="Text 52"/>
          <p:cNvSpPr/>
          <p:nvPr/>
        </p:nvSpPr>
        <p:spPr>
          <a:xfrm>
            <a:off x="448056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ambientais e padrões de ocupação permitem decisões mais adequadas — sem assumir à partida uma percentagem de poupança.</a:t>
            </a:r>
            <a:endParaRPr lang="en-US" sz="1200" dirty="0"/>
          </a:p>
        </p:txBody>
      </p:sp>
      <p:sp>
        <p:nvSpPr>
          <p:cNvPr id="62" name="Shape 53"/>
          <p:cNvSpPr/>
          <p:nvPr/>
        </p:nvSpPr>
        <p:spPr>
          <a:xfrm>
            <a:off x="8046720" y="45262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8229600" y="466344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6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0184" y="4764024"/>
            <a:ext cx="256032" cy="256032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8823960" y="4709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500" dirty="0"/>
          </a:p>
        </p:txBody>
      </p:sp>
      <p:sp>
        <p:nvSpPr>
          <p:cNvPr id="66" name="Text 56"/>
          <p:cNvSpPr/>
          <p:nvPr/>
        </p:nvSpPr>
        <p:spPr>
          <a:xfrm>
            <a:off x="8229600" y="5166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Moradores de uma T3 com FV, AC por divisão e piscina (residente) e quem configura o sistema (técnico).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ÂMBITO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 cenário de estudo: moradia T3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17320"/>
            <a:ext cx="56692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417320"/>
            <a:ext cx="3108960" cy="2377440"/>
          </a:xfrm>
          <a:prstGeom prst="rect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4904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Z1  </a:t>
            </a: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0" y="1417320"/>
            <a:ext cx="2560320" cy="1371600"/>
          </a:xfrm>
          <a:prstGeom prst="rect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14904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Z2  </a:t>
            </a: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principal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0" y="2788920"/>
            <a:ext cx="2560320" cy="1371600"/>
          </a:xfrm>
          <a:prstGeom prst="rect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2862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Z3  </a:t>
            </a: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 / escritório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0" y="4160520"/>
            <a:ext cx="2560320" cy="1600200"/>
          </a:xfrm>
          <a:prstGeom prst="rect">
            <a:avLst/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49040" y="42336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(sem recolha)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794760"/>
            <a:ext cx="1554480" cy="1965960"/>
          </a:xfrm>
          <a:prstGeom prst="rect">
            <a:avLst/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Cozinha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03120" y="3794760"/>
            <a:ext cx="1554480" cy="1965960"/>
          </a:xfrm>
          <a:prstGeom prst="rect">
            <a:avLst/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94560" y="38679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 / outras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108960" y="324612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9486" y="3336646"/>
            <a:ext cx="230429" cy="230429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669280" y="224028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806" y="2330806"/>
            <a:ext cx="230429" cy="230429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669280" y="3611880"/>
            <a:ext cx="411480" cy="41148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9806" y="3702406"/>
            <a:ext cx="230429" cy="230429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446520" y="4160520"/>
            <a:ext cx="1005840" cy="1600200"/>
          </a:xfrm>
          <a:prstGeom prst="roundRect">
            <a:avLst>
              <a:gd name="adj" fmla="val 7273"/>
            </a:avLst>
          </a:prstGeom>
          <a:solidFill>
            <a:srgbClr val="BFE3EC"/>
          </a:solidFill>
          <a:ln w="12700">
            <a:solidFill>
              <a:srgbClr val="5FA8BC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46520" y="45262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Piscina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(bomba)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446520" y="1417320"/>
            <a:ext cx="1005840" cy="914400"/>
          </a:xfrm>
          <a:prstGeom prst="roundRect">
            <a:avLst>
              <a:gd name="adj" fmla="val 8000"/>
            </a:avLst>
          </a:prstGeom>
          <a:solidFill>
            <a:srgbClr val="FBF0D4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720840" y="150876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1609344"/>
            <a:ext cx="256032" cy="2560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446520" y="19842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48640" y="5897880"/>
            <a:ext cx="228600" cy="182880"/>
          </a:xfrm>
          <a:prstGeom prst="rect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22960" y="58795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 real (ESP32 + PIR + DHT22)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3840480" y="5897880"/>
            <a:ext cx="228600" cy="182880"/>
          </a:xfrm>
          <a:prstGeom prst="rect">
            <a:avLst/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114800" y="5879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ou sem monitorização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68096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verificáveis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7680960" y="1828800"/>
            <a:ext cx="384048" cy="384048"/>
          </a:xfrm>
          <a:prstGeom prst="ellipse">
            <a:avLst/>
          </a:prstGeom>
          <a:solidFill>
            <a:srgbClr val="2F6B4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68096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8183880" y="18105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Recolher dados reais em 3 zonas, por 7 a 14 dias</a:t>
            </a:r>
            <a:endParaRPr lang="en-US" sz="1300" dirty="0"/>
          </a:p>
        </p:txBody>
      </p:sp>
      <p:sp>
        <p:nvSpPr>
          <p:cNvPr id="40" name="Shape 33"/>
          <p:cNvSpPr/>
          <p:nvPr/>
        </p:nvSpPr>
        <p:spPr>
          <a:xfrm>
            <a:off x="7680960" y="2395728"/>
            <a:ext cx="384048" cy="384048"/>
          </a:xfrm>
          <a:prstGeom prst="ellipse">
            <a:avLst/>
          </a:prstGeom>
          <a:solidFill>
            <a:srgbClr val="2F6B4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68096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8183880" y="23774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por REST e guardar em MySQL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7680960" y="2962656"/>
            <a:ext cx="384048" cy="384048"/>
          </a:xfrm>
          <a:prstGeom prst="ellipse">
            <a:avLst/>
          </a:prstGeom>
          <a:solidFill>
            <a:srgbClr val="2F6B4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768096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Text 38"/>
          <p:cNvSpPr/>
          <p:nvPr/>
        </p:nvSpPr>
        <p:spPr>
          <a:xfrm>
            <a:off x="8183880" y="29443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fonte solar/meteorológica</a:t>
            </a:r>
            <a:endParaRPr lang="en-US" sz="1300" dirty="0"/>
          </a:p>
        </p:txBody>
      </p:sp>
      <p:sp>
        <p:nvSpPr>
          <p:cNvPr id="46" name="Shape 39"/>
          <p:cNvSpPr/>
          <p:nvPr/>
        </p:nvSpPr>
        <p:spPr>
          <a:xfrm>
            <a:off x="7680960" y="3529584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768096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Text 41"/>
          <p:cNvSpPr/>
          <p:nvPr/>
        </p:nvSpPr>
        <p:spPr>
          <a:xfrm>
            <a:off x="8183880" y="351129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padrões de ocupação</a:t>
            </a:r>
            <a:endParaRPr lang="en-US" sz="1300" dirty="0"/>
          </a:p>
        </p:txBody>
      </p:sp>
      <p:sp>
        <p:nvSpPr>
          <p:cNvPr id="49" name="Shape 42"/>
          <p:cNvSpPr/>
          <p:nvPr/>
        </p:nvSpPr>
        <p:spPr>
          <a:xfrm>
            <a:off x="7680960" y="4096512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68096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1" name="Text 44"/>
          <p:cNvSpPr/>
          <p:nvPr/>
        </p:nvSpPr>
        <p:spPr>
          <a:xfrm>
            <a:off x="8183880" y="407822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consumo por intervalo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7680960" y="4663440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6809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8183880" y="464515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AC e bomba com relés e LED</a:t>
            </a:r>
            <a:endParaRPr lang="en-US" sz="1300" dirty="0"/>
          </a:p>
        </p:txBody>
      </p:sp>
      <p:sp>
        <p:nvSpPr>
          <p:cNvPr id="55" name="Shape 48"/>
          <p:cNvSpPr/>
          <p:nvPr/>
        </p:nvSpPr>
        <p:spPr>
          <a:xfrm>
            <a:off x="7680960" y="5230368"/>
            <a:ext cx="384048" cy="38404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56" name="Text 49"/>
          <p:cNvSpPr/>
          <p:nvPr/>
        </p:nvSpPr>
        <p:spPr>
          <a:xfrm>
            <a:off x="768096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57" name="Text 50"/>
          <p:cNvSpPr/>
          <p:nvPr/>
        </p:nvSpPr>
        <p:spPr>
          <a:xfrm>
            <a:off x="8183880" y="521208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horários fixos</a:t>
            </a:r>
            <a:endParaRPr lang="en-US" sz="1300" dirty="0"/>
          </a:p>
        </p:txBody>
      </p:sp>
      <p:sp>
        <p:nvSpPr>
          <p:cNvPr id="59" name="Text 51"/>
          <p:cNvSpPr/>
          <p:nvPr/>
        </p:nvSpPr>
        <p:spPr>
          <a:xfrm>
            <a:off x="54864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 esquemática, sem escala. Zonas a confirmar na instalação. Sem ligação a AC, bomba ou rede de 230 V.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FÍSICO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Protótipo: recolha real e demonstração de bancada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4</a:t>
            </a:r>
            <a:endParaRPr lang="en-US" sz="1000" dirty="0"/>
          </a:p>
        </p:txBody>
      </p:sp>
      <p:pic>
        <p:nvPicPr>
          <p:cNvPr id="7" name="Image 1" descr="img/bancada_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371600"/>
            <a:ext cx="5120640" cy="3840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8640" y="52852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Ilustração conceptual gerada por IA — não é a montagem final.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137160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217920" y="1668780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8679" y="179953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951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nós sensores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6995160" y="18288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+ PIR HC-SR501 + DHT22, alimentação USB. Amostra a cada 60 s e eventos de movimento.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789920" y="1508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en-US" sz="2200" dirty="0"/>
          </a:p>
        </p:txBody>
      </p:sp>
      <p:sp>
        <p:nvSpPr>
          <p:cNvPr id="15" name="Shape 10"/>
          <p:cNvSpPr/>
          <p:nvPr/>
        </p:nvSpPr>
        <p:spPr>
          <a:xfrm>
            <a:off x="6035040" y="269748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217920" y="2994660"/>
            <a:ext cx="594360" cy="5943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8679" y="312541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9516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nó atuador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95160" y="31546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4.º ESP32 com 4 relés e LED: AC Z1 · AC Z2 · AC Z3 · bomba. Estado pedido ≠ estado confirmado.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078992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6035040" y="4023360"/>
            <a:ext cx="5577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217920" y="4320540"/>
            <a:ext cx="594360" cy="5943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8679" y="4451299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9516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solar de bancada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6995160" y="44805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FV pequeno + INA219 (I²C) + carga de ensaio. Mede tensão e corrente; calcula potência.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10789920" y="41605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en-US" sz="2200" dirty="0"/>
          </a:p>
        </p:txBody>
      </p:sp>
      <p:sp>
        <p:nvSpPr>
          <p:cNvPr id="28" name="Shape 20"/>
          <p:cNvSpPr/>
          <p:nvPr/>
        </p:nvSpPr>
        <p:spPr>
          <a:xfrm>
            <a:off x="6035040" y="5394960"/>
            <a:ext cx="5577840" cy="685800"/>
          </a:xfrm>
          <a:prstGeom prst="roundRect">
            <a:avLst>
              <a:gd name="adj" fmla="val 10667"/>
            </a:avLst>
          </a:prstGeom>
          <a:solidFill>
            <a:srgbClr val="FBF0D4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17920" y="54406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4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não alimenta a casa nem os ESP32 e não representa a produção da moradia. Só baixa tensão.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distribuída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2834640" cy="4800600"/>
          </a:xfrm>
          <a:prstGeom prst="roundRect">
            <a:avLst>
              <a:gd name="adj" fmla="val 3226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389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 (IoT)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0" y="1325880"/>
            <a:ext cx="3657600" cy="4800600"/>
          </a:xfrm>
          <a:prstGeom prst="roundRect">
            <a:avLst>
              <a:gd name="adj" fmla="val 2500"/>
            </a:avLst>
          </a:prstGeom>
          <a:solidFill>
            <a:srgbClr val="F1EFE9"/>
          </a:solidFill>
          <a:ln w="12700">
            <a:solidFill>
              <a:srgbClr val="F1EF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94760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 INTERFACE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1325880"/>
            <a:ext cx="4023360" cy="4800600"/>
          </a:xfrm>
          <a:prstGeom prst="roundRect">
            <a:avLst>
              <a:gd name="adj" fmla="val 2273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INTELIGÊNCIA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18288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194310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2023567"/>
            <a:ext cx="204826" cy="20482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1828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Z1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DHT22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256032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267462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2755087"/>
            <a:ext cx="204826" cy="20482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25603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Z2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DHT22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" y="329184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22960" y="340614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" y="3486607"/>
            <a:ext cx="204826" cy="20482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34440" y="32918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Z3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+ DHT22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31520" y="4343400"/>
            <a:ext cx="246888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445770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" y="4538167"/>
            <a:ext cx="204826" cy="20482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34440" y="43434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atuador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INA219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31520" y="52120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22960" y="52120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relés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LED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2011680" y="521208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2103120" y="5212080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FV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1325880" y="4937760"/>
            <a:ext cx="914" cy="2743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 flipV="1">
            <a:off x="2606040" y="4937760"/>
            <a:ext cx="914" cy="2743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4023360" y="237744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114800" y="26289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267" y="2709367"/>
            <a:ext cx="204826" cy="20482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452628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 / API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HTTPS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4023360" y="420624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4114800" y="436626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5267" y="4446727"/>
            <a:ext cx="204826" cy="204826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526280" y="42062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utilizador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3200400" y="2121408"/>
            <a:ext cx="822960" cy="484632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 flipV="1">
            <a:off x="3200400" y="2807208"/>
            <a:ext cx="822960" cy="457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 flipV="1">
            <a:off x="3200400" y="3017520"/>
            <a:ext cx="822960" cy="566928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46" name="Text 37"/>
          <p:cNvSpPr/>
          <p:nvPr/>
        </p:nvSpPr>
        <p:spPr>
          <a:xfrm>
            <a:off x="324612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900" dirty="0"/>
          </a:p>
        </p:txBody>
      </p:sp>
      <p:sp>
        <p:nvSpPr>
          <p:cNvPr id="47" name="Shape 38"/>
          <p:cNvSpPr/>
          <p:nvPr/>
        </p:nvSpPr>
        <p:spPr>
          <a:xfrm flipV="1">
            <a:off x="3200400" y="3246120"/>
            <a:ext cx="1005840" cy="132588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headEnd type="triangle"/>
            <a:tailEnd type="triangle"/>
          </a:ln>
        </p:spPr>
      </p:sp>
      <p:sp>
        <p:nvSpPr>
          <p:cNvPr id="48" name="Text 39"/>
          <p:cNvSpPr/>
          <p:nvPr/>
        </p:nvSpPr>
        <p:spPr>
          <a:xfrm>
            <a:off x="4069080" y="3657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confirmações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5486400" y="3246120"/>
            <a:ext cx="914" cy="9601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headEnd type="triangle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7863840" y="2377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7955280" y="262890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5747" y="2709367"/>
            <a:ext cx="204826" cy="204826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8366760" y="23774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54" name="Shape 44"/>
          <p:cNvSpPr/>
          <p:nvPr/>
        </p:nvSpPr>
        <p:spPr>
          <a:xfrm>
            <a:off x="6949440" y="2807208"/>
            <a:ext cx="914400" cy="914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headEnd type="triangle"/>
            <a:tailEnd type="triangle"/>
          </a:ln>
        </p:spPr>
      </p:sp>
      <p:sp>
        <p:nvSpPr>
          <p:cNvPr id="55" name="Shape 45"/>
          <p:cNvSpPr/>
          <p:nvPr/>
        </p:nvSpPr>
        <p:spPr>
          <a:xfrm>
            <a:off x="7863840" y="169164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7955280" y="178308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7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747" y="1863547"/>
            <a:ext cx="204826" cy="204826"/>
          </a:xfrm>
          <a:prstGeom prst="rect">
            <a:avLst/>
          </a:prstGeom>
        </p:spPr>
      </p:pic>
      <p:sp>
        <p:nvSpPr>
          <p:cNvPr id="58" name="Text 47"/>
          <p:cNvSpPr/>
          <p:nvPr/>
        </p:nvSpPr>
        <p:spPr>
          <a:xfrm>
            <a:off x="836676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· treino · inferência</a:t>
            </a:r>
            <a:endParaRPr lang="en-US" sz="1200" dirty="0"/>
          </a:p>
        </p:txBody>
      </p:sp>
      <p:sp>
        <p:nvSpPr>
          <p:cNvPr id="59" name="Shape 48"/>
          <p:cNvSpPr/>
          <p:nvPr/>
        </p:nvSpPr>
        <p:spPr>
          <a:xfrm>
            <a:off x="9784080" y="237744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9875520" y="262890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55987" y="2709367"/>
            <a:ext cx="204826" cy="204826"/>
          </a:xfrm>
          <a:prstGeom prst="rect">
            <a:avLst/>
          </a:prstGeom>
        </p:spPr>
      </p:pic>
      <p:sp>
        <p:nvSpPr>
          <p:cNvPr id="62" name="Text 50"/>
          <p:cNvSpPr/>
          <p:nvPr/>
        </p:nvSpPr>
        <p:spPr>
          <a:xfrm>
            <a:off x="10287000" y="237744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endParaRPr lang="en-US" sz="1200" dirty="0"/>
          </a:p>
        </p:txBody>
      </p:sp>
      <p:sp>
        <p:nvSpPr>
          <p:cNvPr id="63" name="Shape 51"/>
          <p:cNvSpPr/>
          <p:nvPr/>
        </p:nvSpPr>
        <p:spPr>
          <a:xfrm flipV="1">
            <a:off x="8686800" y="2240280"/>
            <a:ext cx="914" cy="13716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64" name="Shape 52"/>
          <p:cNvSpPr/>
          <p:nvPr/>
        </p:nvSpPr>
        <p:spPr>
          <a:xfrm>
            <a:off x="10607040" y="2240280"/>
            <a:ext cx="914" cy="13716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65" name="Shape 53"/>
          <p:cNvSpPr/>
          <p:nvPr/>
        </p:nvSpPr>
        <p:spPr>
          <a:xfrm>
            <a:off x="9509760" y="2807208"/>
            <a:ext cx="274320" cy="914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headEnd type="triangle"/>
            <a:tailEnd type="triangle"/>
          </a:ln>
        </p:spPr>
      </p:sp>
      <p:sp>
        <p:nvSpPr>
          <p:cNvPr id="66" name="Shape 54"/>
          <p:cNvSpPr/>
          <p:nvPr/>
        </p:nvSpPr>
        <p:spPr>
          <a:xfrm>
            <a:off x="7863840" y="3886200"/>
            <a:ext cx="3566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7" name="Shape 55"/>
          <p:cNvSpPr/>
          <p:nvPr/>
        </p:nvSpPr>
        <p:spPr>
          <a:xfrm>
            <a:off x="7955280" y="3977640"/>
            <a:ext cx="365760" cy="36576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6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35747" y="4058107"/>
            <a:ext cx="204826" cy="204826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836676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 e normalização</a:t>
            </a:r>
            <a:endParaRPr lang="en-US" sz="1200" dirty="0"/>
          </a:p>
        </p:txBody>
      </p:sp>
      <p:sp>
        <p:nvSpPr>
          <p:cNvPr id="70" name="Shape 57"/>
          <p:cNvSpPr/>
          <p:nvPr/>
        </p:nvSpPr>
        <p:spPr>
          <a:xfrm flipV="1">
            <a:off x="8686800" y="3246120"/>
            <a:ext cx="914" cy="64008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71" name="Shape 58"/>
          <p:cNvSpPr/>
          <p:nvPr/>
        </p:nvSpPr>
        <p:spPr>
          <a:xfrm>
            <a:off x="7863840" y="4937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7955280" y="5143500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5747" y="5223967"/>
            <a:ext cx="204826" cy="204826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8366760" y="49377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/ meteo</a:t>
            </a:r>
            <a:endParaRPr lang="en-US" sz="1200" dirty="0"/>
          </a:p>
        </p:txBody>
      </p:sp>
      <p:sp>
        <p:nvSpPr>
          <p:cNvPr id="75" name="Shape 61"/>
          <p:cNvSpPr/>
          <p:nvPr/>
        </p:nvSpPr>
        <p:spPr>
          <a:xfrm>
            <a:off x="9738360" y="493776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76" name="Shape 62"/>
          <p:cNvSpPr/>
          <p:nvPr/>
        </p:nvSpPr>
        <p:spPr>
          <a:xfrm>
            <a:off x="9829800" y="5143500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10267" y="5223967"/>
            <a:ext cx="204826" cy="204826"/>
          </a:xfrm>
          <a:prstGeom prst="rect">
            <a:avLst/>
          </a:prstGeom>
        </p:spPr>
      </p:pic>
      <p:sp>
        <p:nvSpPr>
          <p:cNvPr id="78" name="Text 63"/>
          <p:cNvSpPr/>
          <p:nvPr/>
        </p:nvSpPr>
        <p:spPr>
          <a:xfrm>
            <a:off x="10241280" y="4937760"/>
            <a:ext cx="1143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FV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 confirmar)</a:t>
            </a:r>
            <a:endParaRPr lang="en-US" sz="1200" dirty="0"/>
          </a:p>
        </p:txBody>
      </p:sp>
      <p:sp>
        <p:nvSpPr>
          <p:cNvPr id="79" name="Shape 64"/>
          <p:cNvSpPr/>
          <p:nvPr/>
        </p:nvSpPr>
        <p:spPr>
          <a:xfrm flipV="1">
            <a:off x="8686800" y="4434840"/>
            <a:ext cx="914" cy="5029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80" name="Shape 65"/>
          <p:cNvSpPr/>
          <p:nvPr/>
        </p:nvSpPr>
        <p:spPr>
          <a:xfrm flipV="1">
            <a:off x="10607040" y="4434840"/>
            <a:ext cx="914" cy="502920"/>
          </a:xfrm>
          <a:prstGeom prst="line">
            <a:avLst/>
          </a:prstGeom>
          <a:noFill/>
          <a:ln w="15875">
            <a:solidFill>
              <a:srgbClr val="6B675E"/>
            </a:solidFill>
            <a:prstDash val="dash"/>
            <a:tailEnd type="triangle"/>
          </a:ln>
        </p:spPr>
      </p:sp>
      <p:sp>
        <p:nvSpPr>
          <p:cNvPr id="81" name="Text 66"/>
          <p:cNvSpPr/>
          <p:nvPr/>
        </p:nvSpPr>
        <p:spPr>
          <a:xfrm>
            <a:off x="3931920" y="5120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→ servidor → atuador</a:t>
            </a:r>
            <a:endParaRPr lang="en-US" sz="1100" dirty="0"/>
          </a:p>
        </p:txBody>
      </p:sp>
      <p:sp>
        <p:nvSpPr>
          <p:cNvPr id="83" name="Text 67"/>
          <p:cNvSpPr/>
          <p:nvPr/>
        </p:nvSpPr>
        <p:spPr>
          <a:xfrm>
            <a:off x="3931920" y="5394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sensor → API → MySQL → IA / gestor → atuador. A BD não fica exposta aos ESP32 nem publicamente.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INTELIGÊNCIA ARTIFICIAL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IA: da recolha à avaliação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716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73152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entre amostras por nó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8056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4 320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48056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por dia (3 zonas)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046720" y="137160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30 240–60 480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8229600" y="19659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amostras em 7–14 dias (estimativa)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2697480"/>
            <a:ext cx="2194560" cy="685800"/>
          </a:xfrm>
          <a:prstGeom prst="homePlate">
            <a:avLst/>
          </a:prstGeom>
          <a:solidFill>
            <a:srgbClr val="2F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Recolha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02–15/11 · sensores + meteo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72918" y="2697480"/>
            <a:ext cx="2194560" cy="685800"/>
          </a:xfrm>
          <a:prstGeom prst="chevron">
            <a:avLst/>
          </a:prstGeom>
          <a:solidFill>
            <a:srgbClr val="3E7F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30118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772918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 lacunas (null)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97196" y="2697480"/>
            <a:ext cx="2194560" cy="685800"/>
          </a:xfrm>
          <a:prstGeom prst="chevron">
            <a:avLst/>
          </a:prstGeom>
          <a:solidFill>
            <a:srgbClr val="2F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54396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997196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· heurística de 10 min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21474" y="2697480"/>
            <a:ext cx="2194560" cy="685800"/>
          </a:xfrm>
          <a:prstGeom prst="chevron">
            <a:avLst/>
          </a:prstGeom>
          <a:solidFill>
            <a:srgbClr val="3E7F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78674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21474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simples vs. candidato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9445752" y="2697480"/>
            <a:ext cx="2194560" cy="685800"/>
          </a:xfrm>
          <a:prstGeom prst="chevron">
            <a:avLst/>
          </a:prstGeom>
          <a:solidFill>
            <a:srgbClr val="2F6B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902952" y="26974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445752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MAE · RMSE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48640" y="40690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4306824"/>
            <a:ext cx="256032" cy="25603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132588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31520" y="4709160"/>
            <a:ext cx="5120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/ horário semanal vs. regressão logística ou árvore pouco profunda.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Métricas: precisão, sensibilidade, F1, matriz de confusão.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deteta movimento, não presença: falamos de ocupação inferida.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172200" y="40690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355080" y="4206240"/>
            <a:ext cx="457200" cy="4572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4306824"/>
            <a:ext cx="256032" cy="256032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949440" y="42245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(kWh)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6355080" y="47091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vs. regressão simples / Random Forest. MAE e RMSE.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cronológica (14 dias):</a:t>
            </a:r>
            <a:endParaRPr lang="en-US" sz="1200" dirty="0"/>
          </a:p>
        </p:txBody>
      </p:sp>
      <p:sp>
        <p:nvSpPr>
          <p:cNvPr id="41" name="Shape 36"/>
          <p:cNvSpPr/>
          <p:nvPr/>
        </p:nvSpPr>
        <p:spPr>
          <a:xfrm>
            <a:off x="6355080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711696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7068312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7424928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7781544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8138160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8494776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851392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9208008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9564624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9921240" y="5349240"/>
            <a:ext cx="320040" cy="32004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10277856" y="5349240"/>
            <a:ext cx="320040" cy="32004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10634472" y="5349240"/>
            <a:ext cx="320040" cy="32004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10991088" y="5349240"/>
            <a:ext cx="320040" cy="320040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6355080" y="5715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+ validação temporal (11 dias)</a:t>
            </a:r>
            <a:endParaRPr lang="en-US" sz="1000" dirty="0"/>
          </a:p>
        </p:txBody>
      </p:sp>
      <p:sp>
        <p:nvSpPr>
          <p:cNvPr id="57" name="Text 51"/>
          <p:cNvSpPr/>
          <p:nvPr/>
        </p:nvSpPr>
        <p:spPr>
          <a:xfrm>
            <a:off x="10287000" y="5715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(3)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ENERGÉTICA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exemplos de decisão do gestor de energia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7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Climatização por zona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783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manual ativo?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606040"/>
            <a:ext cx="2103120" cy="868680"/>
          </a:xfrm>
          <a:prstGeom prst="diamond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06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Ocupação prevista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zona?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2103120" cy="868680"/>
          </a:xfrm>
          <a:prstGeom prst="diamond">
            <a:avLst/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749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fora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conforto?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2103120" cy="594360"/>
          </a:xfrm>
          <a:prstGeom prst="roundRect">
            <a:avLst>
              <a:gd name="adj" fmla="val 12308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4937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 ativar AC da zona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600200" y="2331720"/>
            <a:ext cx="914" cy="2743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1600200" y="3474720"/>
            <a:ext cx="914" cy="27432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600200" y="4617720"/>
            <a:ext cx="914" cy="320040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164592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645920" y="3474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45920" y="4617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108960" y="1783080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0896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Respeitar a escolha do morador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2651760" y="2057400"/>
            <a:ext cx="457200" cy="914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25" name="Text 22"/>
          <p:cNvSpPr/>
          <p:nvPr/>
        </p:nvSpPr>
        <p:spPr>
          <a:xfrm>
            <a:off x="2697480" y="181051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08960" y="32461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EFEDE6"/>
          </a:solidFill>
          <a:ln w="12700">
            <a:solidFill>
              <a:srgbClr val="B8B3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108960" y="32461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desligado / sem ação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651760" y="3035808"/>
            <a:ext cx="457200" cy="393192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2651760" y="3749040"/>
            <a:ext cx="457200" cy="429768"/>
          </a:xfrm>
          <a:prstGeom prst="line">
            <a:avLst/>
          </a:prstGeom>
          <a:noFill/>
          <a:ln w="15875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0" name="Text 27"/>
          <p:cNvSpPr/>
          <p:nvPr/>
        </p:nvSpPr>
        <p:spPr>
          <a:xfrm>
            <a:off x="2377440" y="2697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377440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108960" y="49377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 histerese e tempo mínimo entre comutações.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35040" y="1325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Horário da bomba da piscina</a:t>
            </a:r>
            <a:endParaRPr lang="en-US" sz="16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943600" y="1691640"/>
          <a:ext cx="5760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5" name="Shape 31"/>
          <p:cNvSpPr/>
          <p:nvPr/>
        </p:nvSpPr>
        <p:spPr>
          <a:xfrm>
            <a:off x="6035040" y="46634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035040" y="4663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Proposta: bomba (1 kW) das 12h às 14h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9418320" y="466344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418320" y="4663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autorizada: 10h–16h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6035040" y="5166360"/>
            <a:ext cx="5577840" cy="914400"/>
          </a:xfrm>
          <a:prstGeom prst="roundRect">
            <a:avLst>
              <a:gd name="adj" fmla="val 8000"/>
            </a:avLst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217920" y="521208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P_excedente = max(0, P_FV − P_base − P_prioritária)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excedente não cobrir a duração diária, o sistema avisa e aplica a política autorizada.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54864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simulado do GT02 (FV até 2 kW, carga base 0,5 kW, bomba 1 kW): hipóteses de teste, não medições.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Validação: dois guiões de teste e riscos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8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GT01 — Consultar zona e controlar AC simulado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75564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5216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Z1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764792" y="175564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01368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nova amostra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563624" y="218998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980944" y="175564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17520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15 min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79776" y="218998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4197096" y="175564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33672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em automático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995928" y="218998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5413248" y="175564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9824" y="175564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prevalece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12080" y="218998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548640" y="2670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Reenvio não cria duplicados · meta: 95% das leituras visíveis em ≤ 10 s (≥ 20 envios)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3154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GT02 — Agendar bomba e recuperar de falha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48640" y="353872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5216" y="353872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solar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1764792" y="353872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01368" y="353872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da bomba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63624" y="397306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980944" y="353872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017520" y="353872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confirmada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779776" y="397306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197096" y="353872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33672" y="353872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comunicação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995928" y="397306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413248" y="3538728"/>
            <a:ext cx="987552" cy="868680"/>
          </a:xfrm>
          <a:prstGeom prst="roundRect">
            <a:avLst>
              <a:gd name="adj" fmla="val 8421"/>
            </a:avLst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49824" y="3538728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sem ordens expiradas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212080" y="3973068"/>
            <a:ext cx="173736" cy="914"/>
          </a:xfrm>
          <a:prstGeom prst="line">
            <a:avLst/>
          </a:prstGeom>
          <a:noFill/>
          <a:ln w="19050">
            <a:solidFill>
              <a:srgbClr val="6B675E"/>
            </a:solidFill>
            <a:prstDash val="solid"/>
            <a:tailEnd type="triangle"/>
          </a:ln>
        </p:spPr>
      </p:sp>
      <p:sp>
        <p:nvSpPr>
          <p:cNvPr id="38" name="Text 35"/>
          <p:cNvSpPr/>
          <p:nvPr/>
        </p:nvSpPr>
        <p:spPr>
          <a:xfrm>
            <a:off x="548640" y="44531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12h–14h · assinala tempo em falta e ausência de excedente solar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93776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58368" y="5001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1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58368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Bancada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58368" y="5577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sensor e saída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2532888" y="493776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642616" y="5001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2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2642616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2642616" y="5577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MySQL · painel · atuador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517136" y="4937760"/>
            <a:ext cx="1892808" cy="1143000"/>
          </a:xfrm>
          <a:prstGeom prst="roundRect">
            <a:avLst>
              <a:gd name="adj" fmla="val 6400"/>
            </a:avLst>
          </a:prstGeom>
          <a:solidFill>
            <a:srgbClr val="E4EFE8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626864" y="50017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3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626864" y="5257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4626864" y="5577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temporal e comparação energética</a:t>
            </a:r>
            <a:endParaRPr lang="en-US" sz="1000" dirty="0"/>
          </a:p>
        </p:txBody>
      </p:sp>
      <p:sp>
        <p:nvSpPr>
          <p:cNvPr id="52" name="Text 48"/>
          <p:cNvSpPr/>
          <p:nvPr/>
        </p:nvSpPr>
        <p:spPr>
          <a:xfrm>
            <a:off x="6766560" y="1371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</a:t>
            </a:r>
            <a:endParaRPr lang="en-US" sz="1400" dirty="0"/>
          </a:p>
        </p:txBody>
      </p:sp>
      <p:sp>
        <p:nvSpPr>
          <p:cNvPr id="53" name="Shape 49"/>
          <p:cNvSpPr/>
          <p:nvPr/>
        </p:nvSpPr>
        <p:spPr>
          <a:xfrm>
            <a:off x="6766560" y="178308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876288" y="1892808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825" y="1985345"/>
            <a:ext cx="235549" cy="235549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7406640" y="1837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não deteta pessoa imóvel</a:t>
            </a:r>
            <a:endParaRPr lang="en-US" sz="1200" dirty="0"/>
          </a:p>
        </p:txBody>
      </p:sp>
      <p:sp>
        <p:nvSpPr>
          <p:cNvPr id="57" name="Text 52"/>
          <p:cNvSpPr/>
          <p:nvPr/>
        </p:nvSpPr>
        <p:spPr>
          <a:xfrm>
            <a:off x="7406640" y="2103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temporização, diário, modo manual</a:t>
            </a:r>
            <a:endParaRPr lang="en-US" sz="1100" dirty="0"/>
          </a:p>
        </p:txBody>
      </p:sp>
      <p:sp>
        <p:nvSpPr>
          <p:cNvPr id="58" name="Shape 53"/>
          <p:cNvSpPr/>
          <p:nvPr/>
        </p:nvSpPr>
        <p:spPr>
          <a:xfrm>
            <a:off x="6766560" y="2505456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876288" y="2615184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8825" y="2707721"/>
            <a:ext cx="235549" cy="235549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740664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curta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7406640" y="28254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referências simples, avaliação cronológica</a:t>
            </a:r>
            <a:endParaRPr lang="en-US" sz="1100" dirty="0"/>
          </a:p>
        </p:txBody>
      </p:sp>
      <p:sp>
        <p:nvSpPr>
          <p:cNvPr id="63" name="Shape 57"/>
          <p:cNvSpPr/>
          <p:nvPr/>
        </p:nvSpPr>
        <p:spPr>
          <a:xfrm>
            <a:off x="6766560" y="3227832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64" name="Shape 58"/>
          <p:cNvSpPr/>
          <p:nvPr/>
        </p:nvSpPr>
        <p:spPr>
          <a:xfrm>
            <a:off x="6876288" y="3337560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6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825" y="3430097"/>
            <a:ext cx="235549" cy="235549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7406640" y="32826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ao inversor</a:t>
            </a:r>
            <a:endParaRPr lang="en-US" sz="1200" dirty="0"/>
          </a:p>
        </p:txBody>
      </p:sp>
      <p:sp>
        <p:nvSpPr>
          <p:cNvPr id="67" name="Text 60"/>
          <p:cNvSpPr/>
          <p:nvPr/>
        </p:nvSpPr>
        <p:spPr>
          <a:xfrm>
            <a:off x="7406640" y="35478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meteorologia e cenário estimado</a:t>
            </a:r>
            <a:endParaRPr lang="en-US" sz="1100" dirty="0"/>
          </a:p>
        </p:txBody>
      </p:sp>
      <p:sp>
        <p:nvSpPr>
          <p:cNvPr id="68" name="Shape 61"/>
          <p:cNvSpPr/>
          <p:nvPr/>
        </p:nvSpPr>
        <p:spPr>
          <a:xfrm>
            <a:off x="6766560" y="3950208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69" name="Shape 62"/>
          <p:cNvSpPr/>
          <p:nvPr/>
        </p:nvSpPr>
        <p:spPr>
          <a:xfrm>
            <a:off x="6876288" y="4059936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8825" y="4152473"/>
            <a:ext cx="235549" cy="235549"/>
          </a:xfrm>
          <a:prstGeom prst="rect">
            <a:avLst/>
          </a:prstGeom>
        </p:spPr>
      </p:pic>
      <p:sp>
        <p:nvSpPr>
          <p:cNvPr id="71" name="Text 63"/>
          <p:cNvSpPr/>
          <p:nvPr/>
        </p:nvSpPr>
        <p:spPr>
          <a:xfrm>
            <a:off x="7406640" y="40050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Falhas Wi-Fi, relógio, API</a:t>
            </a:r>
            <a:endParaRPr lang="en-US" sz="1200" dirty="0"/>
          </a:p>
        </p:txBody>
      </p:sp>
      <p:sp>
        <p:nvSpPr>
          <p:cNvPr id="72" name="Text 64"/>
          <p:cNvSpPr/>
          <p:nvPr/>
        </p:nvSpPr>
        <p:spPr>
          <a:xfrm>
            <a:off x="7406640" y="4270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fila local, validade de comandos</a:t>
            </a:r>
            <a:endParaRPr lang="en-US" sz="1100" dirty="0"/>
          </a:p>
        </p:txBody>
      </p:sp>
      <p:sp>
        <p:nvSpPr>
          <p:cNvPr id="73" name="Shape 65"/>
          <p:cNvSpPr/>
          <p:nvPr/>
        </p:nvSpPr>
        <p:spPr>
          <a:xfrm>
            <a:off x="6766560" y="4672584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6876288" y="4782312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7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8825" y="4874849"/>
            <a:ext cx="235549" cy="235549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7406640" y="47274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do painel</a:t>
            </a:r>
            <a:endParaRPr lang="en-US" sz="1200" dirty="0"/>
          </a:p>
        </p:txBody>
      </p:sp>
      <p:sp>
        <p:nvSpPr>
          <p:cNvPr id="77" name="Text 68"/>
          <p:cNvSpPr/>
          <p:nvPr/>
        </p:nvSpPr>
        <p:spPr>
          <a:xfrm>
            <a:off x="7406640" y="4992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valores de bancada separados</a:t>
            </a:r>
            <a:endParaRPr lang="en-US" sz="1100" dirty="0"/>
          </a:p>
        </p:txBody>
      </p:sp>
      <p:sp>
        <p:nvSpPr>
          <p:cNvPr id="78" name="Shape 69"/>
          <p:cNvSpPr/>
          <p:nvPr/>
        </p:nvSpPr>
        <p:spPr>
          <a:xfrm>
            <a:off x="6766560" y="53949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79" name="Shape 70"/>
          <p:cNvSpPr/>
          <p:nvPr/>
        </p:nvSpPr>
        <p:spPr>
          <a:xfrm>
            <a:off x="6876288" y="5504688"/>
            <a:ext cx="420624" cy="420624"/>
          </a:xfrm>
          <a:prstGeom prst="ellipse">
            <a:avLst/>
          </a:prstGeom>
          <a:solidFill>
            <a:srgbClr val="8A857A"/>
          </a:solidFill>
          <a:ln w="12700">
            <a:solidFill>
              <a:srgbClr val="8A857A"/>
            </a:solidFill>
            <a:prstDash val="solid"/>
          </a:ln>
        </p:spPr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8825" y="5597225"/>
            <a:ext cx="235549" cy="235549"/>
          </a:xfrm>
          <a:prstGeom prst="rect">
            <a:avLst/>
          </a:prstGeom>
        </p:spPr>
      </p:pic>
      <p:sp>
        <p:nvSpPr>
          <p:cNvPr id="81" name="Text 71"/>
          <p:cNvSpPr/>
          <p:nvPr/>
        </p:nvSpPr>
        <p:spPr>
          <a:xfrm>
            <a:off x="7406640" y="54498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no GitHub</a:t>
            </a:r>
            <a:endParaRPr lang="en-US" sz="1200" dirty="0"/>
          </a:p>
        </p:txBody>
      </p:sp>
      <p:sp>
        <p:nvSpPr>
          <p:cNvPr id="82" name="Text 72"/>
          <p:cNvSpPr/>
          <p:nvPr/>
        </p:nvSpPr>
        <p:spPr>
          <a:xfrm>
            <a:off x="7406640" y="5715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só dados anonimizados/agregados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ORÇAMENTO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 e orçamento: 141,59 € com reserva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9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325880"/>
          <a:ext cx="47548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16916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123,12 €</a:t>
            </a:r>
            <a:endParaRPr lang="en-US" sz="13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0" y="1581912"/>
            <a:ext cx="256032" cy="256032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852160" y="1508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(breadboards, cabos, USB/5 V, caixas)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005840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45,00 €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0" y="2148840"/>
            <a:ext cx="256032" cy="256032"/>
          </a:xfrm>
          <a:prstGeom prst="rect">
            <a:avLst/>
          </a:prstGeom>
          <a:solidFill>
            <a:srgbClr val="5E9A7C"/>
          </a:solidFill>
          <a:ln w="12700">
            <a:solidFill>
              <a:srgbClr val="5E9A7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852160" y="20756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Microcontroladores (4 × ESP32)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58400" y="207568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32,00 €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0" y="2715768"/>
            <a:ext cx="256032" cy="256032"/>
          </a:xfrm>
          <a:prstGeom prst="rect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852160" y="264261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(PIR, DHT22, INA219)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58400" y="26426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20,12 €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486400" y="3282696"/>
            <a:ext cx="256032" cy="256032"/>
          </a:xfrm>
          <a:prstGeom prst="rect">
            <a:avLst/>
          </a:prstGeom>
          <a:solidFill>
            <a:srgbClr val="F0C661"/>
          </a:solidFill>
          <a:ln w="12700">
            <a:solidFill>
              <a:srgbClr val="F0C6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852160" y="320954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FV + carga de ensaio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10058400" y="32095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15,00 €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486400" y="3849624"/>
            <a:ext cx="256032" cy="256032"/>
          </a:xfrm>
          <a:prstGeom prst="rect">
            <a:avLst/>
          </a:prstGeom>
          <a:solidFill>
            <a:srgbClr val="A9C9B6"/>
          </a:solidFill>
          <a:ln w="12700">
            <a:solidFill>
              <a:srgbClr val="A9C9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52160" y="37764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(relés, LED)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058400" y="3776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11,00 €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0" y="4434840"/>
            <a:ext cx="6035040" cy="0"/>
          </a:xfrm>
          <a:prstGeom prst="line">
            <a:avLst/>
          </a:prstGeom>
          <a:noFill/>
          <a:ln w="12700">
            <a:solidFill>
              <a:srgbClr val="DDD9C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48640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10058400" y="4526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123,12 €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548640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para imprevistos (15%)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0058400" y="4846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18,47 €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486400" y="5257800"/>
            <a:ext cx="6035040" cy="457200"/>
          </a:xfrm>
          <a:prstGeom prst="roundRect">
            <a:avLst>
              <a:gd name="adj" fmla="val 16000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669280" y="5257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previsto com reserva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9692640" y="52578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141,59 €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548640" y="6144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aproximados, sem portes. Alojamento VM: 0–10 €/mês (custo recorrente à parte). Não se compra FV residencial, AC nem bomba.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PLANEAMENTO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Calendário, tarefas e próximos passos</a:t>
            </a:r>
            <a:endParaRPr lang="en-US" sz="2800" dirty="0"/>
          </a:p>
        </p:txBody>
      </p:sp>
      <p:pic>
        <p:nvPicPr>
          <p:cNvPr id="5" name="Image 0" descr="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512" y="256032"/>
            <a:ext cx="1828800" cy="296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 Eficiente · Milestone 1 · 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0" y="1371600"/>
            <a:ext cx="400594" cy="320040"/>
          </a:xfrm>
          <a:prstGeom prst="rect">
            <a:avLst/>
          </a:prstGeom>
          <a:solidFill>
            <a:srgbClr val="F0EEE7"/>
          </a:solidFill>
          <a:ln w="12700">
            <a:solidFill>
              <a:srgbClr val="F0EEE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371600"/>
            <a:ext cx="40059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691640"/>
            <a:ext cx="0" cy="251460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600994" y="1371600"/>
            <a:ext cx="2002971" cy="320040"/>
          </a:xfrm>
          <a:prstGeom prst="rect">
            <a:avLst/>
          </a:prstGeom>
          <a:solidFill>
            <a:srgbClr val="E9E6DE"/>
          </a:solidFill>
          <a:ln w="12700">
            <a:solidFill>
              <a:srgbClr val="E9E6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00994" y="1371600"/>
            <a:ext cx="200297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00994" y="1691640"/>
            <a:ext cx="0" cy="251460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5603966" y="1371600"/>
            <a:ext cx="2069737" cy="320040"/>
          </a:xfrm>
          <a:prstGeom prst="rect">
            <a:avLst/>
          </a:prstGeom>
          <a:solidFill>
            <a:srgbClr val="F0EEE7"/>
          </a:solidFill>
          <a:ln w="12700">
            <a:solidFill>
              <a:srgbClr val="F0EE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03966" y="1371600"/>
            <a:ext cx="206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03966" y="1691640"/>
            <a:ext cx="0" cy="251460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7673703" y="1371600"/>
            <a:ext cx="2069737" cy="320040"/>
          </a:xfrm>
          <a:prstGeom prst="rect">
            <a:avLst/>
          </a:prstGeom>
          <a:solidFill>
            <a:srgbClr val="E9E6DE"/>
          </a:solidFill>
          <a:ln w="12700">
            <a:solidFill>
              <a:srgbClr val="E9E6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73703" y="1371600"/>
            <a:ext cx="206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73703" y="1691640"/>
            <a:ext cx="0" cy="251460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19" name="Shape 16"/>
          <p:cNvSpPr/>
          <p:nvPr/>
        </p:nvSpPr>
        <p:spPr>
          <a:xfrm>
            <a:off x="9743440" y="1371600"/>
            <a:ext cx="1869440" cy="320040"/>
          </a:xfrm>
          <a:prstGeom prst="rect">
            <a:avLst/>
          </a:prstGeom>
          <a:solidFill>
            <a:srgbClr val="F0EEE7"/>
          </a:solidFill>
          <a:ln w="12700">
            <a:solidFill>
              <a:srgbClr val="F0EEE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43440" y="1371600"/>
            <a:ext cx="186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743440" y="1691640"/>
            <a:ext cx="0" cy="2514600"/>
          </a:xfrm>
          <a:prstGeom prst="line">
            <a:avLst/>
          </a:prstGeom>
          <a:noFill/>
          <a:ln w="9525">
            <a:solidFill>
              <a:srgbClr val="D9D6CE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175564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proposta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120862" y="1783080"/>
            <a:ext cx="292608" cy="292608"/>
          </a:xfrm>
          <a:prstGeom prst="diamond">
            <a:avLst/>
          </a:prstGeom>
          <a:solidFill>
            <a:srgbClr val="E0A526"/>
          </a:solidFill>
          <a:ln w="12700">
            <a:solidFill>
              <a:srgbClr val="B07F1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50046" y="175564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27/10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210312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e 1.ª integração REST/MySQL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333931" y="2157984"/>
            <a:ext cx="333829" cy="237744"/>
          </a:xfrm>
          <a:prstGeom prst="roundRect">
            <a:avLst>
              <a:gd name="adj" fmla="val 30769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40912" y="21031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28/10–01/11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48640" y="2450592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real + fonte externa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667760" y="2505456"/>
            <a:ext cx="934720" cy="237744"/>
          </a:xfrm>
          <a:prstGeom prst="roundRect">
            <a:avLst>
              <a:gd name="adj" fmla="val 30769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75632" y="24505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02–15/11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48640" y="279806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ES e funcionalidades IoT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02183" y="2852928"/>
            <a:ext cx="133531" cy="237744"/>
          </a:xfrm>
          <a:prstGeom prst="roundRect">
            <a:avLst>
              <a:gd name="adj" fmla="val 54783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08866" y="2798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13–14/11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48640" y="3145536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— protótipo integrado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390896" y="3172968"/>
            <a:ext cx="292608" cy="292608"/>
          </a:xfrm>
          <a:prstGeom prst="diamond">
            <a:avLst/>
          </a:prstGeom>
          <a:solidFill>
            <a:srgbClr val="E0A526"/>
          </a:solidFill>
          <a:ln w="12700">
            <a:solidFill>
              <a:srgbClr val="B07F1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20080" y="3145536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6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30/11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8640" y="34930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Análise, modelos, gestor, testes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603966" y="3547872"/>
            <a:ext cx="4005943" cy="237744"/>
          </a:xfrm>
          <a:prstGeom prst="roundRect">
            <a:avLst>
              <a:gd name="adj" fmla="val 30769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683061" y="34930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01/12–29/01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3840480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e defesas finais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743440" y="3895344"/>
            <a:ext cx="133531" cy="237744"/>
          </a:xfrm>
          <a:prstGeom prst="roundRect">
            <a:avLst>
              <a:gd name="adj" fmla="val 54783"/>
            </a:avLst>
          </a:prstGeom>
          <a:solidFill>
            <a:srgbClr val="FFFFFF"/>
          </a:solidFill>
          <a:ln w="12700">
            <a:solidFill>
              <a:srgbClr val="2F6B4F"/>
            </a:solidFill>
            <a:prstDash val="dash"/>
          </a:ln>
        </p:spPr>
      </p:sp>
      <p:sp>
        <p:nvSpPr>
          <p:cNvPr id="42" name="Text 39"/>
          <p:cNvSpPr/>
          <p:nvPr/>
        </p:nvSpPr>
        <p:spPr>
          <a:xfrm>
            <a:off x="9950123" y="3840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01–02/02 · a confirmar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Responsáveis e revisores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48640" y="4617720"/>
            <a:ext cx="2130552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8368" y="4727448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4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9" y="4811939"/>
            <a:ext cx="215067" cy="215067"/>
          </a:xfrm>
          <a:prstGeom prst="rect">
            <a:avLst/>
          </a:prstGeom>
        </p:spPr>
      </p:pic>
      <p:sp>
        <p:nvSpPr>
          <p:cNvPr id="47" name="Text 43"/>
          <p:cNvSpPr/>
          <p:nvPr/>
        </p:nvSpPr>
        <p:spPr>
          <a:xfrm>
            <a:off x="1115568" y="4690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e apresentação</a:t>
            </a:r>
            <a:endParaRPr lang="en-US" sz="1100" dirty="0"/>
          </a:p>
        </p:txBody>
      </p:sp>
      <p:sp>
        <p:nvSpPr>
          <p:cNvPr id="48" name="Text 44"/>
          <p:cNvSpPr/>
          <p:nvPr/>
        </p:nvSpPr>
        <p:spPr>
          <a:xfrm>
            <a:off x="65836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658368" y="53949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Benge do Espírito Santo Vieira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658368" y="5806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658368" y="59893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Iaia Baldé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2788920" y="4617720"/>
            <a:ext cx="2130552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2898648" y="4727448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139" y="4811939"/>
            <a:ext cx="215067" cy="215067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3355848" y="4690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e firmware</a:t>
            </a:r>
            <a:endParaRPr lang="en-US" sz="1100" dirty="0"/>
          </a:p>
        </p:txBody>
      </p:sp>
      <p:sp>
        <p:nvSpPr>
          <p:cNvPr id="56" name="Text 51"/>
          <p:cNvSpPr/>
          <p:nvPr/>
        </p:nvSpPr>
        <p:spPr>
          <a:xfrm>
            <a:off x="289864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57" name="Text 52"/>
          <p:cNvSpPr/>
          <p:nvPr/>
        </p:nvSpPr>
        <p:spPr>
          <a:xfrm>
            <a:off x="2898648" y="53949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Rafael Soares Moreira</a:t>
            </a:r>
            <a:endParaRPr lang="en-US" sz="1050" dirty="0"/>
          </a:p>
        </p:txBody>
      </p:sp>
      <p:sp>
        <p:nvSpPr>
          <p:cNvPr id="58" name="Text 53"/>
          <p:cNvSpPr/>
          <p:nvPr/>
        </p:nvSpPr>
        <p:spPr>
          <a:xfrm>
            <a:off x="2898648" y="5806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800" dirty="0"/>
          </a:p>
        </p:txBody>
      </p:sp>
      <p:sp>
        <p:nvSpPr>
          <p:cNvPr id="59" name="Text 54"/>
          <p:cNvSpPr/>
          <p:nvPr/>
        </p:nvSpPr>
        <p:spPr>
          <a:xfrm>
            <a:off x="2898648" y="59893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Ibraim Resende</a:t>
            </a:r>
            <a:endParaRPr lang="en-US" sz="1050" dirty="0"/>
          </a:p>
        </p:txBody>
      </p:sp>
      <p:sp>
        <p:nvSpPr>
          <p:cNvPr id="60" name="Shape 55"/>
          <p:cNvSpPr/>
          <p:nvPr/>
        </p:nvSpPr>
        <p:spPr>
          <a:xfrm>
            <a:off x="5029200" y="4617720"/>
            <a:ext cx="2130552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61" name="Shape 56"/>
          <p:cNvSpPr/>
          <p:nvPr/>
        </p:nvSpPr>
        <p:spPr>
          <a:xfrm>
            <a:off x="5138928" y="4727448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6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3419" y="4811939"/>
            <a:ext cx="215067" cy="215067"/>
          </a:xfrm>
          <a:prstGeom prst="rect">
            <a:avLst/>
          </a:prstGeom>
        </p:spPr>
      </p:pic>
      <p:sp>
        <p:nvSpPr>
          <p:cNvPr id="63" name="Text 57"/>
          <p:cNvSpPr/>
          <p:nvPr/>
        </p:nvSpPr>
        <p:spPr>
          <a:xfrm>
            <a:off x="5596128" y="4690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 interface</a:t>
            </a:r>
            <a:endParaRPr lang="en-US" sz="1100" dirty="0"/>
          </a:p>
        </p:txBody>
      </p:sp>
      <p:sp>
        <p:nvSpPr>
          <p:cNvPr id="64" name="Text 58"/>
          <p:cNvSpPr/>
          <p:nvPr/>
        </p:nvSpPr>
        <p:spPr>
          <a:xfrm>
            <a:off x="513892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65" name="Text 59"/>
          <p:cNvSpPr/>
          <p:nvPr/>
        </p:nvSpPr>
        <p:spPr>
          <a:xfrm>
            <a:off x="5138928" y="53949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Ibraim Resende</a:t>
            </a:r>
            <a:endParaRPr lang="en-US" sz="1050" dirty="0"/>
          </a:p>
        </p:txBody>
      </p:sp>
      <p:sp>
        <p:nvSpPr>
          <p:cNvPr id="66" name="Text 60"/>
          <p:cNvSpPr/>
          <p:nvPr/>
        </p:nvSpPr>
        <p:spPr>
          <a:xfrm>
            <a:off x="5138928" y="5806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800" dirty="0"/>
          </a:p>
        </p:txBody>
      </p:sp>
      <p:sp>
        <p:nvSpPr>
          <p:cNvPr id="67" name="Text 61"/>
          <p:cNvSpPr/>
          <p:nvPr/>
        </p:nvSpPr>
        <p:spPr>
          <a:xfrm>
            <a:off x="5138928" y="59893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Benge do Espírito Santo Vieira</a:t>
            </a:r>
            <a:endParaRPr lang="en-US" sz="1050" dirty="0"/>
          </a:p>
        </p:txBody>
      </p:sp>
      <p:sp>
        <p:nvSpPr>
          <p:cNvPr id="68" name="Shape 62"/>
          <p:cNvSpPr/>
          <p:nvPr/>
        </p:nvSpPr>
        <p:spPr>
          <a:xfrm>
            <a:off x="7269480" y="4617720"/>
            <a:ext cx="2130552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69" name="Shape 63"/>
          <p:cNvSpPr/>
          <p:nvPr/>
        </p:nvSpPr>
        <p:spPr>
          <a:xfrm>
            <a:off x="7379208" y="4727448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3699" y="4811939"/>
            <a:ext cx="215067" cy="215067"/>
          </a:xfrm>
          <a:prstGeom prst="rect">
            <a:avLst/>
          </a:prstGeom>
        </p:spPr>
      </p:pic>
      <p:sp>
        <p:nvSpPr>
          <p:cNvPr id="71" name="Text 64"/>
          <p:cNvSpPr/>
          <p:nvPr/>
        </p:nvSpPr>
        <p:spPr>
          <a:xfrm>
            <a:off x="7836408" y="4690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IA</a:t>
            </a:r>
            <a:endParaRPr lang="en-US" sz="1100" dirty="0"/>
          </a:p>
        </p:txBody>
      </p:sp>
      <p:sp>
        <p:nvSpPr>
          <p:cNvPr id="72" name="Text 65"/>
          <p:cNvSpPr/>
          <p:nvPr/>
        </p:nvSpPr>
        <p:spPr>
          <a:xfrm>
            <a:off x="737920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7379208" y="53949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Iaia Baldé</a:t>
            </a:r>
            <a:endParaRPr lang="en-US" sz="1050" dirty="0"/>
          </a:p>
        </p:txBody>
      </p:sp>
      <p:sp>
        <p:nvSpPr>
          <p:cNvPr id="74" name="Text 67"/>
          <p:cNvSpPr/>
          <p:nvPr/>
        </p:nvSpPr>
        <p:spPr>
          <a:xfrm>
            <a:off x="7379208" y="5806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800" dirty="0"/>
          </a:p>
        </p:txBody>
      </p:sp>
      <p:sp>
        <p:nvSpPr>
          <p:cNvPr id="75" name="Text 68"/>
          <p:cNvSpPr/>
          <p:nvPr/>
        </p:nvSpPr>
        <p:spPr>
          <a:xfrm>
            <a:off x="7379208" y="59893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Rafael Soares Moreira</a:t>
            </a:r>
            <a:endParaRPr lang="en-US" sz="1050" dirty="0"/>
          </a:p>
        </p:txBody>
      </p:sp>
      <p:sp>
        <p:nvSpPr>
          <p:cNvPr id="76" name="Shape 69"/>
          <p:cNvSpPr/>
          <p:nvPr/>
        </p:nvSpPr>
        <p:spPr>
          <a:xfrm>
            <a:off x="9509760" y="4617720"/>
            <a:ext cx="2130552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DD9CF"/>
            </a:solidFill>
            <a:prstDash val="solid"/>
          </a:ln>
        </p:spPr>
      </p:sp>
      <p:sp>
        <p:nvSpPr>
          <p:cNvPr id="77" name="Shape 70"/>
          <p:cNvSpPr/>
          <p:nvPr/>
        </p:nvSpPr>
        <p:spPr>
          <a:xfrm>
            <a:off x="9619488" y="4727448"/>
            <a:ext cx="384048" cy="38404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pic>
        <p:nvPicPr>
          <p:cNvPr id="7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03979" y="4811939"/>
            <a:ext cx="215067" cy="215067"/>
          </a:xfrm>
          <a:prstGeom prst="rect">
            <a:avLst/>
          </a:prstGeom>
        </p:spPr>
      </p:pic>
      <p:sp>
        <p:nvSpPr>
          <p:cNvPr id="79" name="Text 71"/>
          <p:cNvSpPr/>
          <p:nvPr/>
        </p:nvSpPr>
        <p:spPr>
          <a:xfrm>
            <a:off x="10076688" y="4690872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integração</a:t>
            </a:r>
            <a:endParaRPr lang="en-US" sz="1100" dirty="0"/>
          </a:p>
        </p:txBody>
      </p:sp>
      <p:sp>
        <p:nvSpPr>
          <p:cNvPr id="80" name="Text 72"/>
          <p:cNvSpPr/>
          <p:nvPr/>
        </p:nvSpPr>
        <p:spPr>
          <a:xfrm>
            <a:off x="9619488" y="52120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81" name="Text 73"/>
          <p:cNvSpPr/>
          <p:nvPr/>
        </p:nvSpPr>
        <p:spPr>
          <a:xfrm>
            <a:off x="9619488" y="539496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2F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Pedro Benge do Espírito Santo Vieira</a:t>
            </a:r>
            <a:endParaRPr lang="en-US" sz="1050" dirty="0"/>
          </a:p>
        </p:txBody>
      </p:sp>
      <p:sp>
        <p:nvSpPr>
          <p:cNvPr id="82" name="Text 74"/>
          <p:cNvSpPr/>
          <p:nvPr/>
        </p:nvSpPr>
        <p:spPr>
          <a:xfrm>
            <a:off x="9619488" y="58064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6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</a:t>
            </a:r>
            <a:endParaRPr lang="en-US" sz="800" dirty="0"/>
          </a:p>
        </p:txBody>
      </p:sp>
      <p:sp>
        <p:nvSpPr>
          <p:cNvPr id="83" name="Text 75"/>
          <p:cNvSpPr/>
          <p:nvPr/>
        </p:nvSpPr>
        <p:spPr>
          <a:xfrm>
            <a:off x="9619488" y="59893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82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Ibraim Resende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1824</Words>
  <Application>Microsoft Office PowerPoint</Application>
  <PresentationFormat>Ecrã Panorâmico</PresentationFormat>
  <Paragraphs>302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Joao Pedro Vieira</cp:lastModifiedBy>
  <cp:revision>2</cp:revision>
  <dcterms:created xsi:type="dcterms:W3CDTF">2026-10-24T22:38:11Z</dcterms:created>
  <dcterms:modified xsi:type="dcterms:W3CDTF">2026-10-24T22:42:11Z</dcterms:modified>
</cp:coreProperties>
</file>